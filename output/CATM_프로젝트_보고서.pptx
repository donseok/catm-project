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COBOL Analysis Task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메인프레임 COBOL 레거시 시스템 자동 분석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2926080" cy="4572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AI 기반 비즈니스 로직 해석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291840"/>
            <a:ext cx="2926080" cy="4572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6-Phase 자동화 파이프라인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291840"/>
            <a:ext cx="2926080" cy="4572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모더나이제이션 우선순위 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2026.02  |  CATM Project  |  Claude Code Max 20x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CATM이 해결하는 문제와 접근 방식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배경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89280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IBM 메인프레임 COBOL 레거시 시스템 운영 중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39572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MES(제조실행시스템) 전환 프로젝트 추진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9864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수작업 분석의 한계: 시간, 비용, 일관성 부족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40156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6개 COBOL 프로그램, 13개 COPYBOOK 분석 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188720"/>
            <a:ext cx="347472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207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목적</a:t>
            </a:r>
          </a:p>
        </p:txBody>
      </p:sp>
      <p:sp>
        <p:nvSpPr>
          <p:cNvPr id="17" name="Oval 16"/>
          <p:cNvSpPr/>
          <p:nvPr/>
        </p:nvSpPr>
        <p:spPr>
          <a:xfrm>
            <a:off x="4434839" y="1892808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19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COBOL 비즈니스 로직의 자동 한국어 문서화</a:t>
            </a:r>
          </a:p>
        </p:txBody>
      </p:sp>
      <p:sp>
        <p:nvSpPr>
          <p:cNvPr id="19" name="Oval 18"/>
          <p:cNvSpPr/>
          <p:nvPr/>
        </p:nvSpPr>
        <p:spPr>
          <a:xfrm>
            <a:off x="4434839" y="2395728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프로그램 간 의존성 및 영향도 분석 자동화</a:t>
            </a:r>
          </a:p>
        </p:txBody>
      </p:sp>
      <p:sp>
        <p:nvSpPr>
          <p:cNvPr id="21" name="Oval 20"/>
          <p:cNvSpPr/>
          <p:nvPr/>
        </p:nvSpPr>
        <p:spPr>
          <a:xfrm>
            <a:off x="4434839" y="2898648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AI 기반 모더나이제이션 우선순위 산정</a:t>
            </a:r>
          </a:p>
        </p:txBody>
      </p:sp>
      <p:sp>
        <p:nvSpPr>
          <p:cNvPr id="23" name="Oval 22"/>
          <p:cNvSpPr/>
          <p:nvPr/>
        </p:nvSpPr>
        <p:spPr>
          <a:xfrm>
            <a:off x="4434839" y="3401568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19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데이터 구조 → MES 데이터 모델 매핑 지원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1188720"/>
            <a:ext cx="34747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1207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기술</a:t>
            </a:r>
          </a:p>
        </p:txBody>
      </p:sp>
      <p:sp>
        <p:nvSpPr>
          <p:cNvPr id="27" name="Oval 26"/>
          <p:cNvSpPr/>
          <p:nvPr/>
        </p:nvSpPr>
        <p:spPr>
          <a:xfrm>
            <a:off x="8183879" y="189280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Claude Code (Max 20x 구독) AI 분석</a:t>
            </a:r>
          </a:p>
        </p:txBody>
      </p:sp>
      <p:sp>
        <p:nvSpPr>
          <p:cNvPr id="29" name="Oval 28"/>
          <p:cNvSpPr/>
          <p:nvPr/>
        </p:nvSpPr>
        <p:spPr>
          <a:xfrm>
            <a:off x="8183879" y="239572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정적 코드 파서 (McCabe 복잡도, 의존성)</a:t>
            </a:r>
          </a:p>
        </p:txBody>
      </p:sp>
      <p:sp>
        <p:nvSpPr>
          <p:cNvPr id="31" name="Oval 30"/>
          <p:cNvSpPr/>
          <p:nvPr/>
        </p:nvSpPr>
        <p:spPr>
          <a:xfrm>
            <a:off x="8183879" y="289864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교차참조 영향도 분석 엔진</a:t>
            </a:r>
          </a:p>
        </p:txBody>
      </p:sp>
      <p:sp>
        <p:nvSpPr>
          <p:cNvPr id="33" name="Oval 32"/>
          <p:cNvSpPr/>
          <p:nvPr/>
        </p:nvSpPr>
        <p:spPr>
          <a:xfrm>
            <a:off x="8183879" y="340156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59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인터랙티브 대시보드 (HTML/JS)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분석 대상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인벤토리 스캔 결과 (Phase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COBOL 프로그램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맑은 고딕"/>
              </a:defRPr>
            </a:pPr>
            <a:r>
              <a:t>6개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총 1,114 라인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0972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188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COPYBOOK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맑은 고딕"/>
              </a:defRPr>
            </a:pPr>
            <a:r>
              <a:t>13개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755648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총 285 라인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0972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188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DB2 테이블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4173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맑은 고딕"/>
              </a:defRPr>
            </a:pPr>
            <a:r>
              <a:t>6개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755648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전 프로그램 DB2 사용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0972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188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VSAM 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4173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맑은 고딕"/>
              </a:defRPr>
            </a:pPr>
            <a:r>
              <a:t>16개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755648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전 프로그램 VSAM 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10972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188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평균 복잡도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4173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맑은 고딕"/>
              </a:defRPr>
            </a:pPr>
            <a:r>
              <a:t>22.2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755648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최대: 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프로그램 상세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6974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프로그램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라인 수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복잡도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CALL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DB2 테이블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VSAM 파일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조업업무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ABNDPGM, ERRLOG, SQLERR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TB_DAILY_PROD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DLYSMRY, PRODTRAN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출하업무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ABNDPGM, ERRLOG, SQLERR, STOCKERR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TB_INV_SUMMARY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INVLEDG, INVMAST, INVTRAN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품질관리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ABNDPGM, ERRLOG, QCALERT, SQLERR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TB_QC_DAILY_SUMMARY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QCHIST, QCRSLT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생산관리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ABNDPGM, ERRLOG, PRDNOTI, SQLERR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TB_PROD_PLAN_RESULT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PLNRSLT, PRDACT, PRDPLAN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조업업무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ABNDPGM, BFALERT, ERRLOG, SQLERR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TB_BF_DAILY_OPER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BFDAILY, BFOPER, BFTEMP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원자재관리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ABNDPGM, ERRLOG, MATRETN, SQLERR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TB_RM_DAILY_RECEIPT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RMMAST, RMRCPT, RMRETN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6-Phase 자동화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CATM 분석 프로세스 흐름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594360" cy="5943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45920" y="1554480"/>
            <a:ext cx="50292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맑은 고딕"/>
              </a:defRPr>
            </a:pPr>
            <a:r>
              <a:t>인벤토리</a:t>
            </a:r>
            <a:br/>
            <a:r>
              <a:t>스캔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743200"/>
            <a:ext cx="17830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889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소스코드 목록화</a:t>
            </a:r>
            <a:br/>
            <a:r>
              <a:t>파일 수/라인 수 집계</a:t>
            </a:r>
          </a:p>
        </p:txBody>
      </p:sp>
      <p:sp>
        <p:nvSpPr>
          <p:cNvPr id="11" name="Oval 10"/>
          <p:cNvSpPr/>
          <p:nvPr/>
        </p:nvSpPr>
        <p:spPr>
          <a:xfrm>
            <a:off x="2834640" y="1371600"/>
            <a:ext cx="594360" cy="5943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48132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66160" y="1554480"/>
            <a:ext cx="50292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2103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의존성</a:t>
            </a:r>
            <a:br/>
            <a:r>
              <a:t>추출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743200"/>
            <a:ext cx="17830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27889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CALL/COPY/DB2</a:t>
            </a:r>
            <a:br/>
            <a:r>
              <a:t>의존관계 매핑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137160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48132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86400" y="1554480"/>
            <a:ext cx="50292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2103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  <a:latin typeface="맑은 고딕"/>
              </a:defRPr>
            </a:pPr>
            <a:r>
              <a:t>COPYBOOK</a:t>
            </a:r>
            <a:br/>
            <a:r>
              <a:t>파싱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2743200"/>
            <a:ext cx="17830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7889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데이터 구조 분석</a:t>
            </a:r>
            <a:br/>
            <a:r>
              <a:t>필드/타입 추출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137160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48132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406640" y="1554480"/>
            <a:ext cx="50292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103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C4899"/>
                </a:solidFill>
                <a:latin typeface="맑은 고딕"/>
              </a:defRPr>
            </a:pPr>
            <a:r>
              <a:t>다이어그램</a:t>
            </a:r>
            <a:br/>
            <a:r>
              <a:t>생성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2743200"/>
            <a:ext cx="17830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7889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Mermaid 호출관계</a:t>
            </a:r>
            <a:br/>
            <a:r>
              <a:t>ERD/데이터흐름</a:t>
            </a:r>
          </a:p>
        </p:txBody>
      </p:sp>
      <p:sp>
        <p:nvSpPr>
          <p:cNvPr id="29" name="Oval 28"/>
          <p:cNvSpPr/>
          <p:nvPr/>
        </p:nvSpPr>
        <p:spPr>
          <a:xfrm>
            <a:off x="8595360" y="1371600"/>
            <a:ext cx="594360" cy="5943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148132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26880" y="1554480"/>
            <a:ext cx="50292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2103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맑은 고딕"/>
              </a:defRPr>
            </a:pPr>
            <a:r>
              <a:t>Claude AI</a:t>
            </a:r>
            <a:br/>
            <a:r>
              <a:t>분석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2743200"/>
            <a:ext cx="17830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27889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비즈니스 로직 해석</a:t>
            </a:r>
            <a:br/>
            <a:r>
              <a:t>한국어 문서화</a:t>
            </a:r>
          </a:p>
        </p:txBody>
      </p:sp>
      <p:sp>
        <p:nvSpPr>
          <p:cNvPr id="35" name="Oval 34"/>
          <p:cNvSpPr/>
          <p:nvPr/>
        </p:nvSpPr>
        <p:spPr>
          <a:xfrm>
            <a:off x="10515600" y="137160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148132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2103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우선순위</a:t>
            </a:r>
            <a:br/>
            <a:r>
              <a:t>산정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21240" y="2743200"/>
            <a:ext cx="17830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27889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전환 Phase 배정</a:t>
            </a:r>
            <a:br/>
            <a:r>
              <a:t>전략 권장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각 Phase는 독립 실행 가능  |  Phase 5는 Claude Code (Max 20x) CLI 호출  |  전체 파이프라인 catm.sh 1회 명령으로 실행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663440"/>
            <a:ext cx="2651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709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정적 분석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983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McCabe 복잡도, PARAGRAPH 수,</a:t>
            </a:r>
            <a:br/>
            <a:r>
              <a:t>의존성 자동 추출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4663440"/>
            <a:ext cx="2651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4709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AI 분석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983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Claude Code가 비즈니스 로직을</a:t>
            </a:r>
            <a:br/>
            <a:r>
              <a:t>한국어로 해석·문서화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4663440"/>
            <a:ext cx="2651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4709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교차참조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983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프로그램 간 영향도 분석,</a:t>
            </a:r>
            <a:br/>
            <a:r>
              <a:t>데드코드 자동 탐지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4663440"/>
            <a:ext cx="2651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4709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대시보드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4983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분석 결과 실시간 시각화,</a:t>
            </a:r>
            <a:br/>
            <a:r>
              <a:t>필터/검색/드릴다운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CATM 기술 구성 및 데이터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3716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005840"/>
            <a:ext cx="2286000" cy="502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0058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맑은 고딕"/>
              </a:defRPr>
            </a:pPr>
            <a:r>
              <a:t>src/cobol/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234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COBOL 프로그램 (6)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005840"/>
            <a:ext cx="2286000" cy="502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0058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맑은 고딕"/>
              </a:defRPr>
            </a:pPr>
            <a:r>
              <a:t>src/copybook/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234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COPYBOOK (13)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005840"/>
            <a:ext cx="2286000" cy="502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0058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맑은 고딕"/>
              </a:defRPr>
            </a:pPr>
            <a:r>
              <a:t>catm_config.yaml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34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파이프라인 설정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13716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90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2926080"/>
            <a:ext cx="228600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2926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맑은 고딕"/>
              </a:defRPr>
            </a:pPr>
            <a:r>
              <a:t>cobol_parser.py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1546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정적 파서 (461행)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926080"/>
            <a:ext cx="228600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926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맑은 고딕"/>
              </a:defRPr>
            </a:pPr>
            <a:r>
              <a:t>cross_reference.py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1546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교차참조 엔진 (244행)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926080"/>
            <a:ext cx="228600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926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맑은 고딕"/>
              </a:defRPr>
            </a:pPr>
            <a:r>
              <a:t>claude_client.py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1546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Claude CLI 래퍼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926080"/>
            <a:ext cx="228600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2926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맑은 고딕"/>
              </a:defRPr>
            </a:pPr>
            <a:r>
              <a:t>6-Phase Scripts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1546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파이프라인 (6개)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617719"/>
            <a:ext cx="137160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600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AI ENGINE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4571999"/>
            <a:ext cx="2286000" cy="5029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45719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맑은 고딕"/>
              </a:defRPr>
            </a:pPr>
            <a:r>
              <a:t>Claude Code Max 20x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8005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비즈니스 로직 해석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571999"/>
            <a:ext cx="2286000" cy="5029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5719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맑은 고딕"/>
              </a:defRPr>
            </a:pPr>
            <a:r>
              <a:t>analyze-logic.md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8005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분석 프롬프트 템플릿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4571999"/>
            <a:ext cx="2286000" cy="5029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45719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맑은 고딕"/>
              </a:defRPr>
            </a:pPr>
            <a:r>
              <a:t>analyze-data.md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8005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데이터 프롬프트 템플릿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8932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007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5943600"/>
            <a:ext cx="2286000" cy="50292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94560" y="5943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맑은 고딕"/>
              </a:defRPr>
            </a:pPr>
            <a:r>
              <a:t>output/docs/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6172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비즈니스 로직 문서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0" y="5943600"/>
            <a:ext cx="2286000" cy="50292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5943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맑은 고딕"/>
              </a:defRPr>
            </a:pPr>
            <a:r>
              <a:t>output/diagrams/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6172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Mermaid 다이어그램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5943600"/>
            <a:ext cx="2286000" cy="50292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5943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맑은 고딕"/>
              </a:defRPr>
            </a:pPr>
            <a:r>
              <a:t>output/reports/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6172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우선순위 매트릭스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09760" y="5943600"/>
            <a:ext cx="2286000" cy="50292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5943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맑은 고딕"/>
              </a:defRPr>
            </a:pPr>
            <a:r>
              <a:t>dashboard/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6172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인터랙티브 대시보드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정적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복잡도 분포 및 의존성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McCabe 순환 복잡도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맑은 고딕"/>
              </a:defRPr>
            </a:pPr>
            <a:r>
              <a:t>PGM005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645920"/>
            <a:ext cx="411480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맑은 고딕"/>
              </a:defRPr>
            </a:pPr>
            <a: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맑은 고딕"/>
              </a:defRPr>
            </a:pPr>
            <a:r>
              <a:t>PGM003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148840"/>
            <a:ext cx="3174274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0194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맑은 고딕"/>
              </a:defRPr>
            </a:pPr>
            <a: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맑은 고딕"/>
              </a:defRPr>
            </a:pPr>
            <a:r>
              <a:t>PGM004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651760"/>
            <a:ext cx="2821577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7497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맑은 고딕"/>
              </a:defRPr>
            </a:pPr>
            <a:r>
              <a:t>PGM002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3154680"/>
            <a:ext cx="2116182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2102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맑은 고딕"/>
              </a:defRPr>
            </a:pPr>
            <a:r>
              <a:t>PGM006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3657600"/>
            <a:ext cx="1998617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4537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맑은 고딕"/>
              </a:defRPr>
            </a:pPr>
            <a:r>
              <a:t>PGM001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4160520"/>
            <a:ext cx="1410788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56708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754880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낮음 (&lt;15)</a:t>
            </a:r>
          </a:p>
        </p:txBody>
      </p:sp>
      <p:sp>
        <p:nvSpPr>
          <p:cNvPr id="26" name="Oval 25"/>
          <p:cNvSpPr/>
          <p:nvPr/>
        </p:nvSpPr>
        <p:spPr>
          <a:xfrm>
            <a:off x="2377440" y="47548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중간 (15-24)</a:t>
            </a:r>
          </a:p>
        </p:txBody>
      </p:sp>
      <p:sp>
        <p:nvSpPr>
          <p:cNvPr id="28" name="Oval 27"/>
          <p:cNvSpPr/>
          <p:nvPr/>
        </p:nvSpPr>
        <p:spPr>
          <a:xfrm>
            <a:off x="4206240" y="475488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높음 (25+)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의존성 매트릭스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583680" y="15544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프로그램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CALL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COPY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DB2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VSAM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583680" y="4480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공유 서브프로그램: ABNDPGM, ERRLOG, SQLERR → 6개 전 프로그램이 공유</a:t>
            </a:r>
            <a:br/>
            <a:r>
              <a:t>  영향도 점수 1.0 (변경 시 전체 시스템 영향)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Claude AI 비즈니스 로직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프로그램별 핵심 분석 결과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PGM001  |  조업업무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161288"/>
            <a:ext cx="9144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1704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MES: 높음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일일 생산실적 집계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처리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생산 트랜잭션 → 라인별 수량 집계 → DB2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0972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097280"/>
            <a:ext cx="36576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PGM002  |  출하업무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161288"/>
            <a:ext cx="9144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1704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MES: 높음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600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재고 수불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처리 흐름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1945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입출고 트랜잭션 → 마스터 갱신 → 수불대장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0972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097280"/>
            <a:ext cx="36576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PGM003  |  품질관리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98480" y="1161288"/>
            <a:ext cx="9144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11704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MES: 높음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1600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품질검사 판정/경보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처리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1945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검사결과 판정(P/F/R) → 불량률 → 경보 발행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56616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" y="3566160"/>
            <a:ext cx="36576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PGM004  |  생산관리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3630168"/>
            <a:ext cx="914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639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MES: 중간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계획 대비 실적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4348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처리 흐름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6634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생산계획 vs 실적 → 달성률 → 미달 알림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356616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06240" y="3566160"/>
            <a:ext cx="36576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PGM005  |  조업업무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3630168"/>
            <a:ext cx="9144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MES: 높음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고로 조업 데이터 수집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44348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처리 흐름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46634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온도/압력/출선량 수집 → 이상치 탐지 → 경보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56616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46720" y="3566160"/>
            <a:ext cx="36576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PGM006  |  원자재관리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98480" y="3630168"/>
            <a:ext cx="914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0" y="3639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MES: 중간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8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원자재 입고 검수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80" y="44348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처리 흐름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80" y="46634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입고 검수(전량/부분/불합격) → 합격률 산출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모더나이제이션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Claude AI 평가 기반 전환 Phase 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비즈니스 중요도 35%  |  기술 복잡도 25%  |  의존성 영향도 20%  |  전환 용이도 20%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프로그램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최종점수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비즈니스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복잡도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영향도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전환방식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맑은 고딕"/>
                        </a:defRPr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하이브리드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맑은 고딕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하이브리드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맑은 고딕"/>
                        </a:defRPr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5.1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자동 변환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59E0B"/>
                          </a:solidFill>
                          <a:latin typeface="맑은 고딕"/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맑은 고딕"/>
                        </a:defRPr>
                      </a:pPr>
                      <a:r>
                        <a:t>7.3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6.9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자동 변환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59E0B"/>
                          </a:solidFill>
                          <a:latin typeface="맑은 고딕"/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맑은 고딕"/>
                        </a:defRPr>
                      </a:pPr>
                      <a:r>
                        <a:t>6.8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7.1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자동 변환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맑은 고딕"/>
                        </a:defRPr>
                      </a:pPr>
                      <a:r>
                        <a:t>PGM006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맑은 고딕"/>
                        </a:defRPr>
                      </a:pPr>
                      <a:r>
                        <a:t>6.8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4.9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자동 변환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59E0B"/>
                          </a:solidFill>
                          <a:latin typeface="맑은 고딕"/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4297680"/>
            <a:ext cx="365760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325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Phase 1 (즉시, 0~3개월)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66344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PGM001, PGM003, PGM005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MES 핵심 기능 우선 전환</a:t>
            </a:r>
            <a:br/>
            <a:r>
              <a:t>생산실적·품질·조업 데이터 파이프라인 구축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297680"/>
            <a:ext cx="36576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4325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Phase 2 (중기, 3~6개월)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66344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PGM002, PGM004, PGM006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029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MES 주요 기능 순차 전환</a:t>
            </a:r>
            <a:br/>
            <a:r>
              <a:t>재고·계획·원자재 모듈 연계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297680"/>
            <a:ext cx="3657600" cy="3657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325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Phase 3 (후기, 6~12개월)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66344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해당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029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보조 기능 및 유틸리티</a:t>
            </a:r>
            <a:br/>
            <a:r>
              <a:t>현재 대상 프로그램 없음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분석 산출물 및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자동 생성되는 결과물 체계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24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비즈니스 로직 문서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맑은 고딕"/>
              </a:defRPr>
            </a:pPr>
            <a:r>
              <a:t>output/docs/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프로그램별 한국어 분석서 (6개)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프로그램 개요, 데이터 흐름, 비즈니스 로직 상세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비즈니스 규칙 요약, MES 관련도, 리스크 평가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97280"/>
            <a:ext cx="274320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24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데이터 사전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554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맑은 고딕"/>
              </a:defRPr>
            </a:pPr>
            <a:r>
              <a:t>output/data-dict/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COPYBOOK별 데이터 구조 분석 (13개)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필드 분석, 한글 설명, MES 매핑 후보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데이터 품질 이슈, 타입 변환 가이드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097280"/>
            <a:ext cx="2743200" cy="3657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124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다이어그램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C4899"/>
                </a:solidFill>
                <a:latin typeface="맑은 고딕"/>
              </a:defRPr>
            </a:pPr>
            <a:r>
              <a:t>output/diagrams/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프로그램 호출 관계도 (Call Graph)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데이터 흐름도 (Data Flow)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ERD - COPYBOOK 엔티티 관계도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097280"/>
            <a:ext cx="27432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124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우선순위 보고서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554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맑은 고딕"/>
              </a:defRPr>
            </a:pPr>
            <a:r>
              <a:t>output/reports/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종합 우선순위 매트릭스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194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Phase별 전환 전략 권장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• dependency-scan.json (교차참조 데이터)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인터랙티브 대시보드 (dashboard/app.js + index.html)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657600"/>
            <a:ext cx="36576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03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개요 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977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전체 지표 카드, 카테고리 도넛 차트,</a:t>
            </a:r>
            <a:br/>
            <a:r>
              <a:t>Phase별 프로그램 현황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3657600"/>
            <a:ext cx="36576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3703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프로그램 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977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정렬/검색/필터, 확장형 상세 분석,</a:t>
            </a:r>
            <a:br/>
            <a:r>
              <a:t>카테고리 배지, 페이지네이션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657600"/>
            <a:ext cx="36576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3703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의존성 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3977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Mermaid 호출관계 / 데이터흐름</a:t>
            </a:r>
            <a:br/>
            <a:r>
              <a:t>다이어그램 토글 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663440"/>
            <a:ext cx="36576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데이터사전 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983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COPYBOOK 카드, 참조 카운트,</a:t>
            </a:r>
            <a:br/>
            <a:r>
              <a:t>ERD 다이어그램, 상세 MD 뷰어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4663440"/>
            <a:ext cx="36576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모더나이제이션 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4983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우선순위 매트릭스,</a:t>
            </a:r>
            <a:br/>
            <a:r>
              <a:t>Phase별 전환 전략 상세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4663440"/>
            <a:ext cx="36576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맑은 고딕"/>
              </a:defRPr>
            </a:pPr>
            <a:r>
              <a:t>교차참조 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4983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영향도 분석, 데드코드 리포트,</a:t>
            </a:r>
            <a:br/>
            <a:r>
              <a:t>리소스별 사용 프로그램 매핑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분석 품질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프롬프트 엔지니어링 및 컨텍스트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맑은 고딕"/>
              </a:defRPr>
            </a:pPr>
            <a:r>
              <a:t>BEFORE: 기존 분석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✕  COBOL 소스코드 + COPYBOOK만 Claude에 전달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✕  파서가 추출한 메타데이터(복잡도, 의존성) 미활용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✕  교차참조 정보 없이 프로그램 단독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968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✕  리스크 심각도 태그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✕  88-level 비즈니스 규칙 미강조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AFTER: 강화된 분석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✓  구조화 메타데이터 자동 주입 (복잡도, 단락 수, 의존성)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✓  교차참조 컨텍스트 (호출관계, 공유 자원, 영향도 점수)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94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✓  5가지 분석 지침으로 Claude 분석 품질 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968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✓  리스크 심각도 태그 [HIGH/MEDIUM/LOW] 필수화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44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✓  88-level 비즈니스 규칙 + REDEFINES 리스크 명시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주입되는 구조화 데이터 예시 (PGM001)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onsolas"/>
              </a:defRPr>
            </a:pPr>
            <a:r>
              <a:t>정적 분석 메타데이터                              교차 참조 정보</a:t>
            </a:r>
            <a:br/>
            <a:r>
              <a:t>─────────────────────────────      ─────────────────────────────</a:t>
            </a:r>
            <a:br/>
            <a:r>
              <a:t>• 업무 카테고리: 조업업무                          • 호출하는 프로그램: 없음 (최상위)</a:t>
            </a:r>
            <a:br/>
            <a:r>
              <a:t>• McCabe 복잡도: 12 (낮음)                        • 공유 서브프로그램: ABNDPGM(6개),</a:t>
            </a:r>
            <a:br/>
            <a:r>
              <a:t>• PARAGRAPH 수: 8                                  ERRLOG(6개), SQLERR(6개)</a:t>
            </a:r>
            <a:br/>
            <a:r>
              <a:t>• DB2 테이블: TB_DAILY_PROD                       • 영향도 점수: 0.17</a:t>
            </a:r>
            <a:br/>
            <a:r>
              <a:t>• VSAM 파일: DLYSMRY, PRODTRAN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347472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48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분석 정확도 향상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복잡도 컨텍스트로 조건 분기 분석 강화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5486400"/>
            <a:ext cx="347472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548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영향 범위 인식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교차참조로 시스템 전체 맥락 반영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5486400"/>
            <a:ext cx="347472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548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리스크 정량화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9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심각도 태그로 우선순위 정밀도 향상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향후 계획 및 기대효과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완료 (현재)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3657600" cy="22860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6-Phase 자동화 파이프라인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6개 프로그램 정적/AI 분석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인터랙티브 대시보드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프롬프트 엔지니어링 강화 (A1+A2)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070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단기 (1~2개월)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3657600" cy="22860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파서 확장: PERFORM 추적, 88-level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분석 결과 품질 검증 (출력 스키마)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통합 테스트 / 회귀 테스트 구축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54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대시보드: 프로그램 비교 뷰 추가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10972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2070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중기 (3~6개월)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45920"/>
            <a:ext cx="3657600" cy="22860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대규모 코드베이스 대응 (100+ 프로그램)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점진적 분석 (청크 분할, 증분 분석)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D3.js 인터랙티브 의존성 그래프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54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모더나이제이션 실행 추적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기대효과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663440"/>
            <a:ext cx="2148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754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맑은 고딕"/>
              </a:defRPr>
            </a:pPr>
            <a:r>
              <a:t>분석 시간 단축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074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수작업 대비</a:t>
            </a:r>
            <a:br/>
            <a:r>
              <a:t>80% 이상 단축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39" y="4663440"/>
            <a:ext cx="2148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39" y="4754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맑은 고딕"/>
              </a:defRPr>
            </a:pPr>
            <a:r>
              <a:t>분석 일관성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39" y="5074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AI 기반 표준화된</a:t>
            </a:r>
            <a:br/>
            <a:r>
              <a:t>분석 프레임워크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59" y="4663440"/>
            <a:ext cx="2148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59" y="4754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맑은 고딕"/>
              </a:defRPr>
            </a:pPr>
            <a:r>
              <a:t>의사결정 지원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59" y="5074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데이터 기반</a:t>
            </a:r>
            <a:br/>
            <a:r>
              <a:t>우선순위 산정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79" y="4663440"/>
            <a:ext cx="2148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79" y="4754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맑은 고딕"/>
              </a:defRPr>
            </a:pPr>
            <a:r>
              <a:t>지식 보존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79" y="5074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암묵지의 명시지</a:t>
            </a:r>
            <a:br/>
            <a:r>
              <a:t>전환 및 문서화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4663440"/>
            <a:ext cx="2148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4754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맑은 고딕"/>
              </a:defRPr>
            </a:pPr>
            <a:r>
              <a:t>전환 리스크 감소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074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영향도 분석 기반</a:t>
            </a:r>
            <a:br/>
            <a:r>
              <a:t>안전한 모더나이제이션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